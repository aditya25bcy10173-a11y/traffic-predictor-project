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BENGALURU INTELLIGENT MOBILITY</a:t>
            </a:r>
            <a:br/>
            <a:r>
              <a:t>COMMAND CENTER</a:t>
            </a:r>
          </a:p>
          <a:p>
            <a:pPr>
              <a:spcBef>
                <a:spcPts val="1400"/>
              </a:spcBef>
              <a:defRPr sz="1700">
                <a:solidFill>
                  <a:srgbClr val="00D4FF"/>
                </a:solidFill>
                <a:latin typeface="Arial"/>
              </a:defRPr>
            </a:pPr>
            <a:r>
              <a:t>Predictive Event-Driven Traffic Congestion &amp; Tactical Resource Dispatch Platform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33"/>
                </a:solidFill>
                <a:latin typeface="Arial"/>
              </a:defRPr>
            </a:pPr>
            <a:r>
              <a:t>Joint Smart Cities Mission Initiative: Directorate of Urban Land Transport (DULT) &amp; Bengaluru Traffic Police (BTP)</a:t>
            </a:r>
          </a:p>
          <a:p>
            <a:pPr>
              <a:spcBef>
                <a:spcPts val="600"/>
              </a:spcBef>
              <a:defRPr sz="1200">
                <a:solidFill>
                  <a:srgbClr val="C8C8C8"/>
                </a:solidFill>
                <a:latin typeface="Arial"/>
              </a:defRPr>
            </a:pPr>
            <a:r>
              <a:t>Designed, Developed &amp; Managed by National Informatics Centre (NIC) • Built in India 🇮🇳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1. Project Overview &amp; Objectives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The Challenge in Bengaluru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High density of planned events (IPL matches, rallies) and unplanned events (waterlogging, breakdowns) causes localized, critical traffic bottlenecks.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Traditional traffic control is reactive and lacks quantitative predictions of congestion duration.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Manual marshal and police deployments are often misallocated due to lack of real-time predictive insights.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Lack of coordinate-specific transit coordination leads to delayed feeder bus dispatch and Metro commuter surges.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The Intelligent Mobility Solution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Machine Learning Forecasting: Employs a state-of-the-art hybrid ensemble model (PyTorch Tabular ResNet + CatBoost) to predict duration of event impact.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Tactical Dispatch recommendations: Recommends precise number of officers, marshals, towing rigs, barricade sizes, and diversion paths.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NIC Command Portal: A premium, bilingual (English/Kannada) secure web portal featuring real-time GIS mapping, Adhira AI Assistant, and feedback loops.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Real-Time Public Broadcasting: Immediately transmits delay forecasts to Metro/BMTC signs and commuter bulletins to divert traffic streams.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2. System Architecture &amp; Workflow Diagram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450592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Step 1: Event Inputs</a:t>
            </a:r>
          </a:p>
          <a:p>
            <a:pPr>
              <a:spcBef>
                <a:spcPts val="1200"/>
              </a:spcBef>
              <a:defRPr b="1" sz="3600">
                <a:solidFill>
                  <a:srgbClr val="FF9933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12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Incident type, cause, coordinates (lat/lon), priority level, road closure requirements, and temporal parameters.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4096" y="3474720"/>
            <a:ext cx="256032" cy="219456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245059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810512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Step 2: AI Inference</a:t>
            </a:r>
          </a:p>
          <a:p>
            <a:pPr>
              <a:spcBef>
                <a:spcPts val="1200"/>
              </a:spcBef>
              <a:defRPr b="1" sz="3600">
                <a:solidFill>
                  <a:srgbClr val="00D4FF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12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Ensemble predicts resolution duration blending PyTorch Tabular ResNet and CatBoost Regressor outputs.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88736" y="3474720"/>
            <a:ext cx="256032" cy="219456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450592" cy="109728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10512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Step 3: Recommendations</a:t>
            </a:r>
          </a:p>
          <a:p>
            <a:pPr>
              <a:spcBef>
                <a:spcPts val="1200"/>
              </a:spcBef>
              <a:defRPr b="1" sz="3600">
                <a:solidFill>
                  <a:srgbClr val="0A1128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12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Generates barricading, towing, diversion, and police/marshal requirement orders based on predicted duration.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23376" y="3474720"/>
            <a:ext cx="256032" cy="219456"/>
          </a:xfrm>
          <a:prstGeom prst="rightArrow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64592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645920"/>
            <a:ext cx="2450592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810512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Step 4: Dispatch Sync</a:t>
            </a:r>
          </a:p>
          <a:p>
            <a:pPr>
              <a:spcBef>
                <a:spcPts val="1200"/>
              </a:spcBef>
              <a:defRPr b="1" sz="3600">
                <a:solidFill>
                  <a:srgbClr val="138808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12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Displays orders in bilingual Command Center, prints IPS signed orders, and broadcasts warnings to Metro/BMTC signs.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3. Proposed Solution: Core Web Portal Features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55448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383280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Location Presets &amp; GIS Map Preview</a:t>
            </a:r>
          </a:p>
          <a:p>
            <a:pPr>
              <a:spcBef>
                <a:spcPts val="1600"/>
              </a:spcBef>
              <a:defRPr sz="4000"/>
            </a:pPr>
            <a:r>
              <a:t>📍</a:t>
            </a:r>
          </a:p>
          <a:p>
            <a:pPr>
              <a:spcBef>
                <a:spcPts val="16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Predefines popular Bengaluru junctions (Silk Board, Hebbal, Majestic, Indiranagar, Hudson Circle). Selecting a preset autocompletes spatial keys and coordinates, instantly updating a live map preview center marker.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554480"/>
            <a:ext cx="3383280" cy="109728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39" y="1719072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Multi-Stage Progress Status Loader</a:t>
            </a:r>
          </a:p>
          <a:p>
            <a:pPr>
              <a:spcBef>
                <a:spcPts val="1600"/>
              </a:spcBef>
              <a:defRPr sz="4000"/>
            </a:pPr>
            <a:r>
              <a:t>🔄</a:t>
            </a:r>
          </a:p>
          <a:p>
            <a:pPr>
              <a:spcBef>
                <a:spcPts val="16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Enhances operator UX during plan generation by rendering dynamic logs ('Extracting layers...', 'Evaluating CatBoost...', etc.) to show underlying ensemble pipeline processing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155448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8" y="1554480"/>
            <a:ext cx="3383280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8" y="1719072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Side-by-Side Dispatch &amp; Broadcast</a:t>
            </a:r>
          </a:p>
          <a:p>
            <a:pPr>
              <a:spcBef>
                <a:spcPts val="1600"/>
              </a:spcBef>
              <a:defRPr sz="4000"/>
            </a:pPr>
            <a:r>
              <a:t>📡</a:t>
            </a:r>
          </a:p>
          <a:p>
            <a:pPr>
              <a:spcBef>
                <a:spcPts val="16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Splits layout into (1) Left: Printable IPS Signed Command Order with seals, signatures, and barcodes, and (2) Right: Commuter warning bulletins with instant broadcasting to BMTC/Metro displays.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4. Technical Approach: AI Ensemble Model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63040"/>
            <a:ext cx="3840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840480" cy="109728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Hybrid Prediction Pipeline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• Log-Duration Target: Models log1p(duration) to bound target variance.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• PyTorch Tabular ResNet: Uses skip connections to capture spatial/temporal non-linearities.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• CatBoost Regressor: Boosts categorical attributes utilizing symmetric trees.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• Weighted Blending: Ensemble weights (0.10*ResNet + 0.90*CatBoost) yield R² of 0.3533.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• Cyclic Encoding: Transforms hours, weekdays, lat, lon into cyclical trig coordinates.</a:t>
            </a:r>
          </a:p>
        </p:txBody>
      </p:sp>
      <p:pic>
        <p:nvPicPr>
          <p:cNvPr id="10" name="Picture 9" descr="deep_learnin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463040"/>
            <a:ext cx="3566160" cy="466344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38160" y="2011680"/>
          <a:ext cx="3474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60120"/>
                <a:gridCol w="9601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Type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PyTorch 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0.6412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0.2990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CatBoost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0.5921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0.3527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Hybrid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0.5916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0.3533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5. Technical Approach: Recommender &amp; SQLite DB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Congestion Duration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Police Officers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Civil Marshals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Short (&lt;30 mins)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1 - 2 Officers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0 - 1 Marshals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Medium (30 - 60 mins)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2 - 4 Officers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2 - 3 Marshals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Long (60 - 180 mins)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4 - 8 Officers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4 - 8 Marshals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Critical (&gt;180 mins)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8 - 12 Officers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8 - 15 Marshals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463040"/>
            <a:ext cx="5394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Operational SQLite Database (feedback.db)</a:t>
            </a:r>
          </a:p>
          <a:p>
            <a:pPr>
              <a:spcBef>
                <a:spcPts val="8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✔ Table: recommendations: Logs every prediction run containing: unique Event ID, incident type, cause, coordinates, predicted duration, and suggested resource counts.</a:t>
            </a:r>
          </a:p>
          <a:p>
            <a:pPr>
              <a:spcBef>
                <a:spcPts val="8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✔ Table: feedback: Stores actual post-incident operator reviews: actual duration, actual officers, actual marshals, and operational remarks.</a:t>
            </a:r>
          </a:p>
          <a:p>
            <a:pPr>
              <a:spcBef>
                <a:spcPts val="8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✔ Closed-Loop Data Integration: Left join on recommendations and feedback allows calculation of real-time metrics and builds the retraining dataset.</a:t>
            </a:r>
          </a:p>
          <a:p>
            <a:pPr>
              <a:spcBef>
                <a:spcPts val="8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✔ Retrain engine: Periodically loads SQL data to recalculate TabularResNet and CatBoost weights, adjusting for city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6. Project Feasibility &amp; Operational Visibility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Multidimensional Feasibility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Technical Feasibility: Lightweight Streamlit portal requires minimal server memory. FastAPI backend and SQLite DB are highly portable and deployable in standard Docker containers on government cloud networks.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Operational Feasibility: Minimal learning curve. Standard inputs are paired with presets and toggle buttons, requiring no complex technical knowledge from dispatch operators.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Financial Viability: Built on open-source frameworks (Python, PyTorch, CatBoost). Fits directly into existing municipal infrastructure without licensing overheads.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Operational Visibility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Real-time GIS Hotspots: Operators gain visual maps of high-density hotspots, showing exact coordinates and prior report frequencies.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Inter-Agency Portal Synchronization: Connects Metro, BMTC, and Traffic Police under a single coordination screen. Delay projections are immediately shared.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Dynamic Signboards Broadcasting: Broadcasts delay alerts and warnings to public transit display signs instantly at the touch of a button.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7. Quantifiable Impact &amp; Benefits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Commuter &amp; Traffic Benefits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✔ Clears bottlenecks up to 18% faster by deploying tactical marshals and diversion signs proactively before backups solidify.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✔ Saves commuters an average of 20 minutes per journey along major congestion corridors via active VMS warning signs.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✔ Substantially reduces vehicular emissions and fuel wastage by minimizing gridlocks at critical junctions.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✔ Bilingual support ensures accessibility across diverse operator demographics, reducing operational response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Transit &amp; Fleet Optimization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✔ BMTC Speed Optimization: Identifies bottleneck sectors and suggests dedicated bus lane merges, yielding estimated travel savings of 12 mins.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✔ Namma Metro Sync: Prevents terminal station overcrowding by adjusting train intervals and dispatching feeder shuttles in lockstep.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✔ Standby Fleet Readiness: Optimizes heavy towing crane standbys, leading to a 30% reduction in vehicle breakdown clearance times.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8. Project Roadmap &amp; Milestones Diagram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4592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450592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Phase 1: Research</a:t>
            </a:r>
          </a:p>
          <a:p>
            <a:pPr algn="ctr">
              <a:spcBef>
                <a:spcPts val="1200"/>
              </a:spcBef>
              <a:defRPr b="1" sz="4000">
                <a:solidFill>
                  <a:srgbClr val="FF9933"/>
                </a:solidFill>
              </a:defRPr>
            </a:pPr>
            <a:r>
              <a:t>Ⅰ</a:t>
            </a:r>
          </a:p>
          <a:p>
            <a:pPr>
              <a:spcBef>
                <a:spcPts val="12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Preprocessed historical dataset, trained PyTorch &amp; CatBoost models, setup SQLite loops, and compiled Streamlit command center dashboard.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54096" y="3474720"/>
            <a:ext cx="256032" cy="219456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245059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810512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Phase 2: Pilot Rollout</a:t>
            </a:r>
          </a:p>
          <a:p>
            <a:pPr algn="ctr">
              <a:spcBef>
                <a:spcPts val="1200"/>
              </a:spcBef>
              <a:defRPr b="1" sz="4000">
                <a:solidFill>
                  <a:srgbClr val="00D4FF"/>
                </a:solidFill>
              </a:defRPr>
            </a:pPr>
            <a:r>
              <a:t>Ⅱ</a:t>
            </a:r>
          </a:p>
          <a:p>
            <a:pPr>
              <a:spcBef>
                <a:spcPts val="12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Deploy pilot portal at 5 key preset junctions (Silk Board, Hebbal, Majestic, etc.) and initiate operator feedback logging.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88736" y="3474720"/>
            <a:ext cx="256032" cy="219456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450592" cy="109728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10512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Phase 3: Integration</a:t>
            </a:r>
          </a:p>
          <a:p>
            <a:pPr algn="ctr">
              <a:spcBef>
                <a:spcPts val="1200"/>
              </a:spcBef>
              <a:defRPr b="1" sz="4000">
                <a:solidFill>
                  <a:srgbClr val="0A1128"/>
                </a:solidFill>
              </a:defRPr>
            </a:pPr>
            <a:r>
              <a:t>Ⅲ</a:t>
            </a:r>
          </a:p>
          <a:p>
            <a:pPr>
              <a:spcBef>
                <a:spcPts val="12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Deploy portal across all 44 Traffic Police Stations. Connect live API feeds with DULT Variable Message Signs (VMS).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23376" y="3474720"/>
            <a:ext cx="256032" cy="219456"/>
          </a:xfrm>
          <a:prstGeom prst="rightArrow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645920"/>
            <a:ext cx="245059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645920"/>
            <a:ext cx="2450592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810512"/>
            <a:ext cx="217627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Phase 4: Scaling</a:t>
            </a:r>
          </a:p>
          <a:p>
            <a:pPr algn="ctr">
              <a:spcBef>
                <a:spcPts val="1200"/>
              </a:spcBef>
              <a:defRPr b="1" sz="4000">
                <a:solidFill>
                  <a:srgbClr val="138808"/>
                </a:solidFill>
              </a:defRPr>
            </a:pPr>
            <a:r>
              <a:t>Ⅳ</a:t>
            </a:r>
          </a:p>
          <a:p>
            <a:pPr>
              <a:spcBef>
                <a:spcPts val="12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Ingest CCTV computer vision feeds to automatically log incidents. Sync signal cycles. Scale to Mysuru/Hubbali.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9. Scalability &amp; Future Growth Features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109728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Architectural Scalability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Containerized Microservices: Backend FastAPI services and React front-end are structured for Docker and Kubernetes orchestration, allowing auto-scaling during heavy peak-hour query loads.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Open API Gateways: Standardized REST APIs allow external emergency services, navigation maps (MapmyIndia, Google Maps), and municipal departments to fetch delay forecasts and active dispatches securely.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Central Database Clusters: Migration from local SQLite to PostgreSQL clusters with replication guarantees enterprise-grade database write throughput.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Future Intelligent Features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Computer Vision CCTV Ingestion: Connects existing road cameras to convolutional neural networks (CNNs) to automatically detect accident causes and vehicle breakdowns, triggering immediate predictions.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Dynamic Traffic Signal Sync: Automatically pushes duration forecasts to SCATS traffic light systems to lengthen green cycles on high-delay routes.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  <a:latin typeface="Arial"/>
              </a:defRPr>
            </a:pPr>
            <a:r>
              <a:t>• Commuter App Integrations: Pushes real-time warnings and Adhira AI advisories directly to citizen-facing mobile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128"/>
                </a:solidFill>
                <a:latin typeface="Arial"/>
              </a:defRPr>
            </a:pPr>
            <a:r>
              <a:t>10. Research &amp; Scientific References</a:t>
            </a:r>
          </a:p>
        </p:txBody>
      </p:sp>
      <p:pic>
        <p:nvPicPr>
          <p:cNvPr id="6" name="Picture 5" descr="bengaluru_government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65760"/>
            <a:ext cx="640080" cy="640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6304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03520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Tabular Deep Learning &amp; ResNets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Gorishniy, Y., Rubachev, V., Khrulkov, V., &amp; Babenko, A. (2021). 'Revisiting Deep Learning Models for Tabular Data'. Neural Information Processing Systems (NeurIPS). This work details the ResNet block design optimized for heterogeneous tabular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03520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Gradient Boosting &amp; Categoricals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Prokhorenkova, L., Gusev, G., Vorobev, A., Dorogush, A. V., &amp; Gulin, A. (2018). 'CatBoost: unbiased boosting with categorical features'. Advances in Neural Information Processing Systems. Outlines optimal methods for high-cardinality categorical attributes encoding.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5303520" cy="109728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965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Cyclic Spatial-Temporal Encoding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Wu, Y., Tan, H., Ran, B. (2020). 'Spatial-Temporal Traffic Flow Forecasting Using Cyclic Temporal Embedding'. Transport Research Record. Validates the use of trigonometric mapping for time and location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303520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09651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A1128"/>
                </a:solidFill>
                <a:latin typeface="Arial"/>
              </a:defRPr>
            </a:pPr>
            <a:r>
              <a:t>Multi-Modal Public Transit Sync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  <a:latin typeface="Arial"/>
              </a:defRPr>
            </a:pPr>
            <a:r>
              <a:t>DULT City Transport Guidelines (2023). 'Bengaluru Multi-Modal Coordination Framework'. Outlines joint transit response protocols for high-density congestion zones.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